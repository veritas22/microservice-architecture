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36"/>
  </p:notesMasterIdLst>
  <p:sldIdLst>
    <p:sldId id="256" r:id="rId4"/>
    <p:sldId id="257" r:id="rId5"/>
    <p:sldId id="258" r:id="rId6"/>
    <p:sldId id="259" r:id="rId7"/>
    <p:sldId id="260" r:id="rId8"/>
    <p:sldId id="261" r:id="rId9"/>
    <p:sldId id="267" r:id="rId10"/>
    <p:sldId id="268" r:id="rId11"/>
    <p:sldId id="275" r:id="rId12"/>
    <p:sldId id="281" r:id="rId13"/>
    <p:sldId id="277" r:id="rId14"/>
    <p:sldId id="278" r:id="rId15"/>
    <p:sldId id="279" r:id="rId16"/>
    <p:sldId id="269" r:id="rId17"/>
    <p:sldId id="270" r:id="rId18"/>
    <p:sldId id="272" r:id="rId19"/>
    <p:sldId id="271" r:id="rId20"/>
    <p:sldId id="276" r:id="rId21"/>
    <p:sldId id="273" r:id="rId22"/>
    <p:sldId id="274" r:id="rId23"/>
    <p:sldId id="280" r:id="rId24"/>
    <p:sldId id="282" r:id="rId25"/>
    <p:sldId id="283" r:id="rId26"/>
    <p:sldId id="284" r:id="rId27"/>
    <p:sldId id="286" r:id="rId28"/>
    <p:sldId id="287" r:id="rId29"/>
    <p:sldId id="288" r:id="rId30"/>
    <p:sldId id="285" r:id="rId31"/>
    <p:sldId id="263" r:id="rId32"/>
    <p:sldId id="264" r:id="rId33"/>
    <p:sldId id="265" r:id="rId34"/>
    <p:sldId id="266" r:id="rId35"/>
  </p:sldIdLst>
  <p:sldSz cx="9144000" cy="5143500" type="screen16x9"/>
  <p:notesSz cx="6858000" cy="9144000"/>
  <p:embeddedFontLst>
    <p:embeddedFont>
      <p:font typeface="Roboto" panose="02000000000000000000" pitchFamily="2" charset="0"/>
      <p:regular r:id="rId37"/>
      <p:bold r:id="rId38"/>
      <p:italic r:id="rId39"/>
      <p:boldItalic r:id="rId40"/>
    </p:embeddedFont>
    <p:embeddedFont>
      <p:font typeface="Roboto Medium" panose="020000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FFF36B-4B06-4A5D-BB85-5B31FCD988F5}">
  <a:tblStyle styleId="{C6FFF36B-4B06-4A5D-BB85-5B31FCD988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348" y="126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3.fntdata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6.fntdata"/><Relationship Id="rId47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8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7.fntdata"/><Relationship Id="rId48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font" Target="fonts/font2.fntdata"/><Relationship Id="rId46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{C6FFF36B-4B06-4A5D-BB85-5B31FCD988F5}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{C6FFF36B-4B06-4A5D-BB85-5B31FCD988F5}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1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fontAlgn="base"/>
            <a:r>
              <a:rPr lang="ru-RU" b="1" dirty="0"/>
              <a:t>Онлайн-магазин с использованием микросервисной архитектуры </a:t>
            </a: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378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b="1" dirty="0"/>
              <a:t>Microservice Architecture</a:t>
            </a:r>
            <a:endParaRPr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dirty="0"/>
              <a:t>Тема: </a:t>
            </a:r>
            <a:r>
              <a:rPr lang="ru-RU" dirty="0"/>
              <a:t>Онлайн-магазин с использованием микросервисной архитектуры </a:t>
            </a:r>
            <a:br>
              <a:rPr lang="ru-RU" dirty="0"/>
            </a:b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Руслан Габбазов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ru-RU" dirty="0"/>
              <a:t>.NET разработчик .С практическими навыками фронтенд-разработки на Vue.js и JavaScript.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FE603C0-0121-A193-BF44-05486F25B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267" y="2273108"/>
            <a:ext cx="1563808" cy="14616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cxnSpLocks/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cxnSpLocks/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617032776"/>
              </p:ext>
            </p:extLst>
          </p:nvPr>
        </p:nvGraphicFramePr>
        <p:xfrm>
          <a:off x="952500" y="2382126"/>
          <a:ext cx="7264425" cy="2255169"/>
        </p:xfrm>
        <a:graphic>
          <a:graphicData uri="http://schemas.openxmlformats.org/drawingml/2006/table">
            <a:tbl>
              <a:tblPr>
                <a:noFill/>
                <a:tableStyleId>{C6FFF36B-4B06-4A5D-BB85-5B31FCD988F5}</a:tableStyleId>
              </a:tblPr>
              <a:tblGrid>
                <a:gridCol w="51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11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Создать микросервис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11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Использовать Современные паттерны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13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      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Внедрить технологии на работе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11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08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Какие технологии использовались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3663818683"/>
              </p:ext>
            </p:extLst>
          </p:nvPr>
        </p:nvGraphicFramePr>
        <p:xfrm>
          <a:off x="0" y="1085851"/>
          <a:ext cx="8845490" cy="5655859"/>
        </p:xfrm>
        <a:graphic>
          <a:graphicData uri="http://schemas.openxmlformats.org/drawingml/2006/table">
            <a:tbl>
              <a:tblPr>
                <a:noFill/>
                <a:tableStyleId>{C6FFF36B-4B06-4A5D-BB85-5B31FCD988F5}</a:tableStyleId>
              </a:tblPr>
              <a:tblGrid>
                <a:gridCol w="522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3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445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Декомпозиция с использованием Domain-Driven Design (DDD): микросервисы выстраиваются вокруг поддоменов (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Subdomains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), где каждый поддомен представляет собой ограниченный контекст (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Bounded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Context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Чистая архитектура в микросервисах позволяет четко разделять слои — интерфейсов, бизнес-логики и инфраструктуры, 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7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lang="en-US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r>
                        <a:rPr lang="ru-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-US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lang="ru-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ru-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ru-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Для управления инфраструктурой микросервисов в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Kubernetes 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используется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Helm, 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позволяющий эффективно разворачивать сервисы, такую как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RabbitMQ 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и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PostgreSQL. Docker Compose 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применяется для компонентов мониторинга и наблюдаемости: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OpenTelemetry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Prometheus, Jaeger, Loki 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и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Grafana.</a:t>
                      </a:r>
                      <a:endParaRPr lang="ru-RU" sz="16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OpenTelemetry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с экспортером данных в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Prometheus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для метрик, Jaeger для распределенной трассировки,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Loki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для логов, и визуализация через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Grafana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lang="ru-RU" sz="16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Микросервис одновременно прослушивает два порта для поддержки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gRPC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(HTTP/2) и REST (HTTP/1.1) интерфейсов, что обеспечивает гибкость взаимодействия с клиентами. Для асинхронного обмена сообщениями используется брокер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RabbitMQ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 Документирование REST API выполняется с помощью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OpenAPI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(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Swagger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), обеспечивая удобство работы и тестирования.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34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34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34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99;p40">
            <a:extLst>
              <a:ext uri="{FF2B5EF4-FFF2-40B4-BE49-F238E27FC236}">
                <a16:creationId xmlns:a16="http://schemas.microsoft.com/office/drawing/2014/main" id="{97403187-2DC5-3F98-D067-07F2C7236F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3778916"/>
              </p:ext>
            </p:extLst>
          </p:nvPr>
        </p:nvGraphicFramePr>
        <p:xfrm>
          <a:off x="114301" y="150019"/>
          <a:ext cx="8840390" cy="6019837"/>
        </p:xfrm>
        <a:graphic>
          <a:graphicData uri="http://schemas.openxmlformats.org/drawingml/2006/table">
            <a:tbl>
              <a:tblPr>
                <a:noFill/>
                <a:tableStyleId>{C6FFF36B-4B06-4A5D-BB85-5B31FCD988F5}</a:tableStyleId>
              </a:tblPr>
              <a:tblGrid>
                <a:gridCol w="521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8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597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JWT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Authentication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- позволяет микросервисам безопасно проверять подлинность и права пользователей без центрального запроса в аутентифицированный сервис.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19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lang="en-US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8.</a:t>
                      </a:r>
                      <a:r>
                        <a:rPr lang="ru-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9.</a:t>
                      </a:r>
                      <a:endParaRPr lang="ru-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ru-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lang="en-US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ru-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lang="ru-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API Gateway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Ocelot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— легковесный и мощный API-шлюз на платформе .NET Core для маршрутизации, авторизации и управления трафиком между клиентами и микросервисами.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PostgreSQL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— популярная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open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source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реляционная база данных, обеспечивающая надёжное хранение данных и работу с транзакциями.</a:t>
                      </a:r>
                    </a:p>
                    <a:p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Redis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— используется для реализации идемпотентности через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Idempotency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-Key, что предотвращает повторную обработку одинаковых запросов.</a:t>
                      </a:r>
                    </a:p>
                    <a:p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Распределённые транзакции с паттерном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Saga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— оркестратор управляет жизненным циклом заказов (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order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), обеспечивая согласованность процессов в распределённой системе.</a:t>
                      </a:r>
                    </a:p>
                    <a:p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CQRS с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MediatR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— разделение операций чтения и записи на складе для оптимизации производительности и упрощения архитектуры.</a:t>
                      </a:r>
                    </a:p>
                    <a:p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Event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Sourcing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с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MediatR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 — хранение всех изменений состояний заказов для восстановления и аудита состояния системы.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47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47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47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341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2EDE06-040F-E765-DB34-BD65835C7F51}"/>
              </a:ext>
            </a:extLst>
          </p:cNvPr>
          <p:cNvSpPr txBox="1"/>
          <p:nvPr/>
        </p:nvSpPr>
        <p:spPr>
          <a:xfrm>
            <a:off x="4895850" y="238125"/>
            <a:ext cx="3873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" dirty="0"/>
              <a:t>Что получилось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2B1C26-78E6-1DCC-1D40-498B6AD85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16447"/>
            <a:ext cx="9189767" cy="413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47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245169-2495-E1ED-E848-C1045D0B7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960" y="206827"/>
            <a:ext cx="7935300" cy="699481"/>
          </a:xfrm>
        </p:spPr>
        <p:txBody>
          <a:bodyPr/>
          <a:lstStyle/>
          <a:p>
            <a:br>
              <a:rPr lang="en-US" b="0" dirty="0"/>
            </a:br>
            <a:r>
              <a:rPr lang="en-US" b="0" dirty="0"/>
              <a:t>Clean Architecture</a:t>
            </a:r>
            <a:br>
              <a:rPr lang="en-US" b="0" dirty="0"/>
            </a:br>
            <a:br>
              <a:rPr lang="en-US" dirty="0"/>
            </a:b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9998C3-905E-CAAB-A048-C478A3BFE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70" y="1482150"/>
            <a:ext cx="3568968" cy="19435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958A42-6347-0676-E27F-CDA8751F2D52}"/>
              </a:ext>
            </a:extLst>
          </p:cNvPr>
          <p:cNvSpPr txBox="1"/>
          <p:nvPr/>
        </p:nvSpPr>
        <p:spPr>
          <a:xfrm>
            <a:off x="184960" y="752419"/>
            <a:ext cx="5511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каждом проекте соблюден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0822990-B7D7-DE69-3DC8-C5077A271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676" y="906307"/>
            <a:ext cx="255270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999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2B5920-E1D0-56C6-0B34-7278FDA75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512" y="93539"/>
            <a:ext cx="7935300" cy="1145100"/>
          </a:xfrm>
        </p:spPr>
        <p:txBody>
          <a:bodyPr/>
          <a:lstStyle/>
          <a:p>
            <a:r>
              <a:rPr lang="ru-RU" dirty="0"/>
              <a:t>Сага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1A9266-61AB-F268-EA26-DB7BC0D5E270}"/>
              </a:ext>
            </a:extLst>
          </p:cNvPr>
          <p:cNvSpPr txBox="1"/>
          <p:nvPr/>
        </p:nvSpPr>
        <p:spPr>
          <a:xfrm>
            <a:off x="233512" y="1084750"/>
            <a:ext cx="23711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Контролирует транзакцию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59A1EF0-3C91-415F-D0A2-6105C93F5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" y="1864455"/>
            <a:ext cx="3038475" cy="1657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EBEF6F-BA34-F595-D28C-89CAFAE09601}"/>
              </a:ext>
            </a:extLst>
          </p:cNvPr>
          <p:cNvSpPr txBox="1"/>
          <p:nvPr/>
        </p:nvSpPr>
        <p:spPr>
          <a:xfrm>
            <a:off x="309562" y="1474602"/>
            <a:ext cx="3339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Реализовал через доменное событие</a:t>
            </a:r>
          </a:p>
        </p:txBody>
      </p:sp>
    </p:spTree>
    <p:extLst>
      <p:ext uri="{BB962C8B-B14F-4D97-AF65-F5344CB8AC3E}">
        <p14:creationId xmlns:p14="http://schemas.microsoft.com/office/powerpoint/2010/main" val="3465817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D025B6-2EF8-0F75-CE33-22392460A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512" y="-165406"/>
            <a:ext cx="7935300" cy="1145100"/>
          </a:xfrm>
        </p:spPr>
        <p:txBody>
          <a:bodyPr/>
          <a:lstStyle/>
          <a:p>
            <a:r>
              <a:rPr lang="en-US" dirty="0"/>
              <a:t>event sourcing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EEEA5D-4FA4-C355-45F4-B745DB41D1A2}"/>
              </a:ext>
            </a:extLst>
          </p:cNvPr>
          <p:cNvSpPr txBox="1"/>
          <p:nvPr/>
        </p:nvSpPr>
        <p:spPr>
          <a:xfrm>
            <a:off x="307497" y="1092425"/>
            <a:ext cx="626165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- Событийная модель помогает</a:t>
            </a:r>
            <a:r>
              <a:rPr lang="en-US" dirty="0"/>
              <a:t> bounded context </a:t>
            </a:r>
            <a:r>
              <a:rPr lang="ru-RU" dirty="0"/>
              <a:t>правильно разделить</a:t>
            </a:r>
          </a:p>
          <a:p>
            <a:r>
              <a:rPr lang="ru-RU" dirty="0"/>
              <a:t>- Паттерн поддержания консистентности данных</a:t>
            </a:r>
          </a:p>
          <a:p>
            <a:r>
              <a:rPr lang="ru-RU" dirty="0"/>
              <a:t>- Помогает на код взглянуть с точки зрения завершённых событии</a:t>
            </a:r>
          </a:p>
          <a:p>
            <a:r>
              <a:rPr lang="ru-RU" dirty="0"/>
              <a:t>- Мониторинг(нейросеть) и разделение данных на чтение и запись</a:t>
            </a:r>
            <a:r>
              <a:rPr lang="en-US" dirty="0"/>
              <a:t>(</a:t>
            </a:r>
            <a:r>
              <a:rPr lang="en-US" dirty="0" err="1"/>
              <a:t>Cqrs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9ABDBC-6766-3F42-7A3E-8023A7F83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264" y="432045"/>
            <a:ext cx="2041680" cy="200454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A32C827-2BE7-29A5-3B81-D2B536E48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61" y="2977061"/>
            <a:ext cx="8276321" cy="185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932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A1E593-CEAD-BB8E-A8FF-1594DD503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49" y="53079"/>
            <a:ext cx="7935300" cy="1145100"/>
          </a:xfrm>
        </p:spPr>
        <p:txBody>
          <a:bodyPr/>
          <a:lstStyle/>
          <a:p>
            <a:r>
              <a:rPr lang="en-US" dirty="0" err="1"/>
              <a:t>Cqrs</a:t>
            </a:r>
            <a:r>
              <a:rPr lang="en-US" dirty="0"/>
              <a:t> (</a:t>
            </a:r>
            <a:r>
              <a:rPr lang="en-US" dirty="0" err="1"/>
              <a:t>mediatR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BCF4798-F87D-EC07-79D5-ECC1B53D4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649" y="153748"/>
            <a:ext cx="2450102" cy="46610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E07116-FC3A-8483-9BF3-4955A1D74309}"/>
              </a:ext>
            </a:extLst>
          </p:cNvPr>
          <p:cNvSpPr txBox="1"/>
          <p:nvPr/>
        </p:nvSpPr>
        <p:spPr>
          <a:xfrm>
            <a:off x="234670" y="1375646"/>
            <a:ext cx="53892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Огромный плюс разделение чтение и записи. Разгрузка системы, гибкость и стабильность в коде и т д</a:t>
            </a:r>
          </a:p>
          <a:p>
            <a:r>
              <a:rPr lang="ru-RU" dirty="0"/>
              <a:t>Обычно используется вместе </a:t>
            </a:r>
            <a:r>
              <a:rPr lang="en-US" dirty="0"/>
              <a:t>event sourcing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8697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42B676-B980-42E2-C09F-D463C7193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090" y="109723"/>
            <a:ext cx="7935300" cy="1145100"/>
          </a:xfrm>
        </p:spPr>
        <p:txBody>
          <a:bodyPr/>
          <a:lstStyle/>
          <a:p>
            <a:r>
              <a:rPr lang="en-US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JWT Authentication</a:t>
            </a:r>
            <a:br>
              <a:rPr lang="en-US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8D6B0F9-B19A-F220-A645-51487C070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95" y="1254823"/>
            <a:ext cx="4268345" cy="2110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1856AB-1F86-A3A9-3174-D21618596C6F}"/>
              </a:ext>
            </a:extLst>
          </p:cNvPr>
          <p:cNvSpPr txBox="1"/>
          <p:nvPr/>
        </p:nvSpPr>
        <p:spPr>
          <a:xfrm>
            <a:off x="85158" y="778325"/>
            <a:ext cx="8913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Дает возможность децентрализовать авторизацию, может проверить токены без необходимости обращения к центральному серверу </a:t>
            </a:r>
            <a:r>
              <a:rPr lang="ru-RU" dirty="0" err="1"/>
              <a:t>аутентификаци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C513FB-E9B0-2A95-951F-EA9FA9C51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229" y="2766590"/>
            <a:ext cx="5041339" cy="218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693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EF2BFE-1234-8307-DB78-FC3647225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170" y="142091"/>
            <a:ext cx="7915166" cy="602376"/>
          </a:xfrm>
        </p:spPr>
        <p:txBody>
          <a:bodyPr/>
          <a:lstStyle/>
          <a:p>
            <a:r>
              <a:rPr lang="en-US" dirty="0"/>
              <a:t>Api </a:t>
            </a:r>
            <a:r>
              <a:rPr lang="en-US" dirty="0" err="1"/>
              <a:t>Getway</a:t>
            </a:r>
            <a:r>
              <a:rPr lang="ru-RU" dirty="0"/>
              <a:t> </a:t>
            </a:r>
            <a:r>
              <a:rPr lang="en-US" dirty="0"/>
              <a:t>Ocelot</a:t>
            </a:r>
            <a:r>
              <a:rPr lang="ru-RU" dirty="0"/>
              <a:t> </a:t>
            </a:r>
            <a:r>
              <a:rPr lang="en-US" dirty="0"/>
              <a:t>Swagger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16F5C64-88DE-73AA-0D53-F91B1C68D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72" y="1335186"/>
            <a:ext cx="7212653" cy="36662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7DC134-68E4-E04E-3A97-7F7278C958C0}"/>
              </a:ext>
            </a:extLst>
          </p:cNvPr>
          <p:cNvSpPr txBox="1"/>
          <p:nvPr/>
        </p:nvSpPr>
        <p:spPr>
          <a:xfrm>
            <a:off x="379170" y="987228"/>
            <a:ext cx="46442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Единый центр</a:t>
            </a:r>
            <a:r>
              <a:rPr lang="en-US" dirty="0"/>
              <a:t>. </a:t>
            </a:r>
            <a:r>
              <a:rPr lang="ru-RU" dirty="0"/>
              <a:t>Удобная документация документации</a:t>
            </a:r>
          </a:p>
        </p:txBody>
      </p:sp>
    </p:spTree>
    <p:extLst>
      <p:ext uri="{BB962C8B-B14F-4D97-AF65-F5344CB8AC3E}">
        <p14:creationId xmlns:p14="http://schemas.microsoft.com/office/powerpoint/2010/main" val="981955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7A08EF-D859-CC71-ADFC-2134E08ED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97" y="69263"/>
            <a:ext cx="7935300" cy="1145100"/>
          </a:xfrm>
        </p:spPr>
        <p:txBody>
          <a:bodyPr/>
          <a:lstStyle/>
          <a:p>
            <a:r>
              <a:rPr lang="en-US" dirty="0"/>
              <a:t>Docker compose</a:t>
            </a:r>
            <a:r>
              <a:rPr lang="ru-RU" dirty="0"/>
              <a:t>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E211223-75AE-E386-FA24-485A54E2B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214" y="0"/>
            <a:ext cx="2322685" cy="405517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83A64EC-A1C5-DF79-5422-E5E9016B3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899" y="0"/>
            <a:ext cx="1657005" cy="50742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2F3777-81ED-0F41-D5CB-1563CE26A467}"/>
              </a:ext>
            </a:extLst>
          </p:cNvPr>
          <p:cNvSpPr txBox="1"/>
          <p:nvPr/>
        </p:nvSpPr>
        <p:spPr>
          <a:xfrm>
            <a:off x="176096" y="1129737"/>
            <a:ext cx="46281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Для отладки и быстрого запуска всех микросервисов</a:t>
            </a:r>
          </a:p>
        </p:txBody>
      </p:sp>
    </p:spTree>
    <p:extLst>
      <p:ext uri="{BB962C8B-B14F-4D97-AF65-F5344CB8AC3E}">
        <p14:creationId xmlns:p14="http://schemas.microsoft.com/office/powerpoint/2010/main" val="526817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7AC495-A5CA-3D7D-9250-0978811A6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237" y="85447"/>
            <a:ext cx="7935300" cy="1145100"/>
          </a:xfrm>
        </p:spPr>
        <p:txBody>
          <a:bodyPr/>
          <a:lstStyle/>
          <a:p>
            <a:r>
              <a:rPr lang="en-US" dirty="0"/>
              <a:t>Helm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6874F0-8C5E-3437-E002-80693CE7155B}"/>
              </a:ext>
            </a:extLst>
          </p:cNvPr>
          <p:cNvSpPr txBox="1"/>
          <p:nvPr/>
        </p:nvSpPr>
        <p:spPr>
          <a:xfrm>
            <a:off x="315589" y="1456566"/>
            <a:ext cx="6837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Хелм для быстрого запуска и </a:t>
            </a:r>
            <a:r>
              <a:rPr lang="ru-RU" dirty="0" err="1"/>
              <a:t>оркестрации</a:t>
            </a:r>
            <a:r>
              <a:rPr lang="ru-RU" dirty="0"/>
              <a:t> контейнеров на серверах</a:t>
            </a:r>
          </a:p>
        </p:txBody>
      </p:sp>
    </p:spTree>
    <p:extLst>
      <p:ext uri="{BB962C8B-B14F-4D97-AF65-F5344CB8AC3E}">
        <p14:creationId xmlns:p14="http://schemas.microsoft.com/office/powerpoint/2010/main" val="2539013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85FE01-72E0-FC26-9ED7-CBF7D580C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49" y="61171"/>
            <a:ext cx="7935300" cy="1145100"/>
          </a:xfrm>
        </p:spPr>
        <p:txBody>
          <a:bodyPr/>
          <a:lstStyle/>
          <a:p>
            <a:r>
              <a:rPr lang="en-US" dirty="0"/>
              <a:t>open telemetry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B4B343-22D7-6997-7D30-94E99A19066B}"/>
              </a:ext>
            </a:extLst>
          </p:cNvPr>
          <p:cNvSpPr txBox="1"/>
          <p:nvPr/>
        </p:nvSpPr>
        <p:spPr>
          <a:xfrm>
            <a:off x="445062" y="1440382"/>
            <a:ext cx="43696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Используя коллектор помогает метрики, логирование трассировки держать на другой машине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8D076C-E557-AABA-E77D-209911B3E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200" y="0"/>
            <a:ext cx="234851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263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7FE679-E3EE-D8EC-B71C-834BCA108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02" y="83870"/>
            <a:ext cx="4666871" cy="174937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ECE96BE-6A57-0B38-2C6E-C1E579609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02" y="1904662"/>
            <a:ext cx="4249752" cy="202929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8A0664C-E526-8223-A0C6-860CE294B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904662"/>
            <a:ext cx="4349849" cy="280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293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D30768-C87E-8053-E0B1-9FE23DEEA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342" y="133999"/>
            <a:ext cx="7935300" cy="1145100"/>
          </a:xfrm>
        </p:spPr>
        <p:txBody>
          <a:bodyPr/>
          <a:lstStyle/>
          <a:p>
            <a:r>
              <a:rPr lang="en-US" dirty="0" err="1"/>
              <a:t>Grps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rest </a:t>
            </a:r>
            <a:r>
              <a:rPr lang="ru-RU" dirty="0"/>
              <a:t>прослушивание двух портов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FEC671-8202-4864-E086-D79BCF83D79A}"/>
              </a:ext>
            </a:extLst>
          </p:cNvPr>
          <p:cNvSpPr txBox="1"/>
          <p:nvPr/>
        </p:nvSpPr>
        <p:spPr>
          <a:xfrm>
            <a:off x="493614" y="1731696"/>
            <a:ext cx="6797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Rest </a:t>
            </a:r>
            <a:r>
              <a:rPr lang="ru-RU" dirty="0"/>
              <a:t>работает с </a:t>
            </a:r>
            <a:r>
              <a:rPr lang="en-US" dirty="0" err="1"/>
              <a:t>api</a:t>
            </a:r>
            <a:r>
              <a:rPr lang="en-US" dirty="0"/>
              <a:t> </a:t>
            </a:r>
            <a:r>
              <a:rPr lang="en-US" dirty="0" err="1"/>
              <a:t>getway</a:t>
            </a:r>
            <a:r>
              <a:rPr lang="en-US" dirty="0"/>
              <a:t>. </a:t>
            </a:r>
            <a:r>
              <a:rPr lang="en-US" dirty="0" err="1"/>
              <a:t>Grps</a:t>
            </a:r>
            <a:r>
              <a:rPr lang="en-US" dirty="0"/>
              <a:t> c </a:t>
            </a:r>
            <a:r>
              <a:rPr lang="ru-RU" dirty="0"/>
              <a:t>микросервисами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70CF5A5-96E9-A8C4-AB28-83B3D4F5F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69" y="2284188"/>
            <a:ext cx="2828925" cy="20478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0AC400C-276F-78B9-7570-E6004E80F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643" y="2284188"/>
            <a:ext cx="3401281" cy="258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477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21D393E-369E-94E8-A9F4-3343968CB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54" y="938212"/>
            <a:ext cx="6762750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93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B373F6-7FFE-7391-BA41-4E0FBB324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13" y="206828"/>
            <a:ext cx="7935300" cy="1145100"/>
          </a:xfrm>
        </p:spPr>
        <p:txBody>
          <a:bodyPr/>
          <a:lstStyle/>
          <a:p>
            <a:r>
              <a:rPr lang="en-US" dirty="0" err="1"/>
              <a:t>RabbitMq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F9638F-4E04-608E-C29F-38EBD373D4ED}"/>
              </a:ext>
            </a:extLst>
          </p:cNvPr>
          <p:cNvSpPr txBox="1"/>
          <p:nvPr/>
        </p:nvSpPr>
        <p:spPr>
          <a:xfrm>
            <a:off x="435813" y="1351928"/>
            <a:ext cx="8416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Используем как </a:t>
            </a:r>
            <a:r>
              <a:rPr lang="ru-RU" dirty="0" err="1"/>
              <a:t>событиную</a:t>
            </a:r>
            <a:r>
              <a:rPr lang="ru-RU" dirty="0"/>
              <a:t> модель триггер завершённого события. Можем спокойно использовать </a:t>
            </a:r>
            <a:r>
              <a:rPr lang="ru-RU" dirty="0" err="1"/>
              <a:t>асинхроно</a:t>
            </a:r>
            <a:r>
              <a:rPr lang="ru-RU" dirty="0"/>
              <a:t> так как обратный ответ нам не нужен. Например отправка почты</a:t>
            </a:r>
          </a:p>
        </p:txBody>
      </p:sp>
    </p:spTree>
    <p:extLst>
      <p:ext uri="{BB962C8B-B14F-4D97-AF65-F5344CB8AC3E}">
        <p14:creationId xmlns:p14="http://schemas.microsoft.com/office/powerpoint/2010/main" val="3330078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2BF094-5541-A42D-C0F5-3774AD309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237" y="247288"/>
            <a:ext cx="7935300" cy="1145100"/>
          </a:xfrm>
        </p:spPr>
        <p:txBody>
          <a:bodyPr/>
          <a:lstStyle/>
          <a:p>
            <a:r>
              <a:rPr lang="en-US" dirty="0"/>
              <a:t>Redis </a:t>
            </a:r>
            <a:r>
              <a:rPr lang="ru-RU" dirty="0"/>
              <a:t>кэширование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83CA276-CDE0-2B6B-E67E-160E99938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37" y="1261177"/>
            <a:ext cx="6943725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050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85B470-31B2-41BA-FD02-26AED87FF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157" y="239196"/>
            <a:ext cx="7935300" cy="1145100"/>
          </a:xfrm>
        </p:spPr>
        <p:txBody>
          <a:bodyPr/>
          <a:lstStyle/>
          <a:p>
            <a:r>
              <a:rPr lang="en-US" b="0" dirty="0"/>
              <a:t>Idempotency-Key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64B705-53B1-4EEC-B13D-0F5BC3A96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57" y="1384296"/>
            <a:ext cx="4122795" cy="325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681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DFC882-D447-940B-52D0-4B99E20EB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316" y="117815"/>
            <a:ext cx="7544072" cy="735608"/>
          </a:xfrm>
        </p:spPr>
        <p:txBody>
          <a:bodyPr/>
          <a:lstStyle/>
          <a:p>
            <a:r>
              <a:rPr lang="en-US" dirty="0"/>
              <a:t>Jaeger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CE4941-2BFE-0ABC-3499-A62F45BA5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2" y="853423"/>
            <a:ext cx="7786687" cy="416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7299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212C7-A93A-7459-77A3-3FAB46C5C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4" y="98850"/>
            <a:ext cx="7221844" cy="686963"/>
          </a:xfrm>
        </p:spPr>
        <p:txBody>
          <a:bodyPr/>
          <a:lstStyle/>
          <a:p>
            <a:r>
              <a:rPr lang="en-US" dirty="0" err="1"/>
              <a:t>Promethus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FA93D0C-0BA8-FB13-B61D-DDEF672D8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94" y="1054907"/>
            <a:ext cx="7579519" cy="408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637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9A0FEE7-1B93-9028-7228-0F2E95C12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705"/>
            <a:ext cx="9144000" cy="496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5456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39C7FC-5317-C636-E14B-D4775209F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62" y="55988"/>
            <a:ext cx="7935300" cy="1145100"/>
          </a:xfrm>
        </p:spPr>
        <p:txBody>
          <a:bodyPr/>
          <a:lstStyle/>
          <a:p>
            <a:r>
              <a:rPr lang="en-US" dirty="0"/>
              <a:t>Grafana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4D8403A-05B4-258B-4DA1-4304A893F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62" y="1008262"/>
            <a:ext cx="7372350" cy="402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275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0E390D-E204-A493-1A2D-E9241EB7A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6" y="141713"/>
            <a:ext cx="7935300" cy="1145100"/>
          </a:xfrm>
        </p:spPr>
        <p:txBody>
          <a:bodyPr/>
          <a:lstStyle/>
          <a:p>
            <a:r>
              <a:rPr lang="ru-RU" dirty="0"/>
              <a:t>Логирование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93E1AA-2F66-466F-5490-9E74FD08469A}"/>
              </a:ext>
            </a:extLst>
          </p:cNvPr>
          <p:cNvSpPr txBox="1"/>
          <p:nvPr/>
        </p:nvSpPr>
        <p:spPr>
          <a:xfrm>
            <a:off x="364332" y="1200150"/>
            <a:ext cx="82581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- </a:t>
            </a:r>
            <a:r>
              <a:rPr lang="en-US" dirty="0"/>
              <a:t>Interceptor</a:t>
            </a:r>
            <a:r>
              <a:rPr lang="ru-RU" dirty="0"/>
              <a:t> </a:t>
            </a:r>
            <a:r>
              <a:rPr lang="en-US" dirty="0" err="1"/>
              <a:t>grps</a:t>
            </a:r>
            <a:r>
              <a:rPr lang="en-US" dirty="0"/>
              <a:t>, </a:t>
            </a:r>
            <a:r>
              <a:rPr lang="ru-RU" dirty="0"/>
              <a:t>который будет </a:t>
            </a:r>
            <a:r>
              <a:rPr lang="ru-RU" dirty="0" err="1"/>
              <a:t>логгировать</a:t>
            </a:r>
            <a:r>
              <a:rPr lang="ru-RU" dirty="0"/>
              <a:t> </a:t>
            </a:r>
            <a:r>
              <a:rPr lang="en-US" dirty="0"/>
              <a:t>request </a:t>
            </a:r>
            <a:r>
              <a:rPr lang="ru-RU" dirty="0"/>
              <a:t>и </a:t>
            </a:r>
            <a:r>
              <a:rPr lang="en-US" dirty="0"/>
              <a:t>response</a:t>
            </a:r>
            <a:endParaRPr lang="ru-RU" dirty="0"/>
          </a:p>
          <a:p>
            <a:r>
              <a:rPr lang="ru-RU" dirty="0"/>
              <a:t>-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filter</a:t>
            </a:r>
            <a:r>
              <a:rPr lang="ru-RU" dirty="0"/>
              <a:t>, который будет отлавливать все необработанные</a:t>
            </a:r>
          </a:p>
          <a:p>
            <a:r>
              <a:rPr lang="ru-RU" dirty="0"/>
              <a:t>исключения и выдавать </a:t>
            </a:r>
            <a:r>
              <a:rPr lang="ru-RU" dirty="0" err="1"/>
              <a:t>response</a:t>
            </a:r>
            <a:r>
              <a:rPr lang="ru-RU" dirty="0"/>
              <a:t> </a:t>
            </a:r>
          </a:p>
          <a:p>
            <a:r>
              <a:rPr lang="ru-RU" dirty="0"/>
              <a:t>- </a:t>
            </a:r>
            <a:r>
              <a:rPr lang="ru-RU" dirty="0" err="1"/>
              <a:t>middleware</a:t>
            </a:r>
            <a:r>
              <a:rPr lang="ru-RU" dirty="0"/>
              <a:t> компоненты, которые будут </a:t>
            </a:r>
            <a:r>
              <a:rPr lang="ru-RU" dirty="0" err="1"/>
              <a:t>логгировать</a:t>
            </a:r>
            <a:r>
              <a:rPr lang="ru-RU" dirty="0"/>
              <a:t> </a:t>
            </a:r>
            <a:r>
              <a:rPr lang="ru-RU" dirty="0" err="1"/>
              <a:t>request</a:t>
            </a:r>
            <a:r>
              <a:rPr lang="ru-RU" dirty="0"/>
              <a:t> и </a:t>
            </a:r>
            <a:r>
              <a:rPr lang="ru-RU" dirty="0" err="1"/>
              <a:t>response</a:t>
            </a:r>
            <a:r>
              <a:rPr lang="ru-RU" dirty="0"/>
              <a:t> поступающих </a:t>
            </a:r>
            <a:r>
              <a:rPr lang="ru-RU" dirty="0" err="1"/>
              <a:t>http</a:t>
            </a:r>
            <a:r>
              <a:rPr lang="ru-RU" dirty="0"/>
              <a:t> запросов</a:t>
            </a:r>
          </a:p>
        </p:txBody>
      </p:sp>
    </p:spTree>
    <p:extLst>
      <p:ext uri="{BB962C8B-B14F-4D97-AF65-F5344CB8AC3E}">
        <p14:creationId xmlns:p14="http://schemas.microsoft.com/office/powerpoint/2010/main" val="21274567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2985513876"/>
              </p:ext>
            </p:extLst>
          </p:nvPr>
        </p:nvGraphicFramePr>
        <p:xfrm>
          <a:off x="823913" y="1239769"/>
          <a:ext cx="7239000" cy="3703706"/>
        </p:xfrm>
        <a:graphic>
          <a:graphicData uri="http://schemas.openxmlformats.org/drawingml/2006/table">
            <a:tbl>
              <a:tblPr>
                <a:noFill/>
                <a:tableStyleId>{C6FFF36B-4B06-4A5D-BB85-5B31FCD988F5}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7670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Мне не хватило кол во </a:t>
                      </a:r>
                      <a:r>
                        <a:rPr lang="ru-RU" sz="1600" dirty="0" err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дз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и показалось много в </a:t>
                      </a:r>
                      <a:r>
                        <a:rPr lang="ru-RU" sz="1600" dirty="0" err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дз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helm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. Увлек процесс очень сильно. Не хватило  </a:t>
                      </a:r>
                      <a:r>
                        <a:rPr lang="ru-RU" sz="1600" dirty="0" err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лайф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кодинга. В </a:t>
                      </a:r>
                      <a:r>
                        <a:rPr lang="ru-RU" sz="1600" dirty="0" err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Дз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 практике нет </a:t>
                      </a:r>
                      <a:r>
                        <a:rPr lang="en-US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CQRS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-US" sz="1600" dirty="0" err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eventsource</a:t>
                      </a:r>
                      <a:r>
                        <a:rPr lang="en-US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, </a:t>
                      </a:r>
                      <a:r>
                        <a:rPr lang="en-US" sz="1600" dirty="0" err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opentelemetry</a:t>
                      </a:r>
                      <a:r>
                        <a:rPr lang="en-US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TDD, SI/SD </a:t>
                      </a:r>
                      <a:r>
                        <a:rPr lang="en-US" sz="1600" dirty="0" err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gitlab</a:t>
                      </a:r>
                      <a:r>
                        <a:rPr lang="en-US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ru-RU" sz="1600" dirty="0" err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доменые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события.  Я попробовал дополнительно реализовать у себя в проекте. И получилось очень круто.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57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Микросервисов создал очень много. Можно экспериментировать. 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7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Внедрил </a:t>
                      </a:r>
                      <a:r>
                        <a:rPr lang="en-US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open telemetry 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работе. Появились идей что можно нового внедрить и улучшить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2733</TotalTime>
  <Words>717</Words>
  <Application>Microsoft Office PowerPoint</Application>
  <PresentationFormat>Экран (16:9)</PresentationFormat>
  <Paragraphs>117</Paragraphs>
  <Slides>32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32</vt:i4>
      </vt:variant>
    </vt:vector>
  </HeadingPairs>
  <TitlesOfParts>
    <vt:vector size="39" baseType="lpstr">
      <vt:lpstr>Roboto Medium</vt:lpstr>
      <vt:lpstr>Roboto</vt:lpstr>
      <vt:lpstr>Courier New</vt:lpstr>
      <vt:lpstr>Arial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Онлайн-магазин с использованием микросервисной архитектуры    </vt:lpstr>
      <vt:lpstr>План защиты</vt:lpstr>
      <vt:lpstr>Презентация PowerPoint</vt:lpstr>
      <vt:lpstr>Какие технологии использовались </vt:lpstr>
      <vt:lpstr>Презентация PowerPoint</vt:lpstr>
      <vt:lpstr>Презентация PowerPoint</vt:lpstr>
      <vt:lpstr> Clean Architecture  </vt:lpstr>
      <vt:lpstr>Сага</vt:lpstr>
      <vt:lpstr>event sourcing</vt:lpstr>
      <vt:lpstr>Cqrs (mediatR)</vt:lpstr>
      <vt:lpstr>JWT Authentication </vt:lpstr>
      <vt:lpstr>Api Getway Ocelot Swagger</vt:lpstr>
      <vt:lpstr>Docker compose </vt:lpstr>
      <vt:lpstr>Helm</vt:lpstr>
      <vt:lpstr>open telemetry</vt:lpstr>
      <vt:lpstr>Презентация PowerPoint</vt:lpstr>
      <vt:lpstr>Grps и rest прослушивание двух портов</vt:lpstr>
      <vt:lpstr>Презентация PowerPoint</vt:lpstr>
      <vt:lpstr>RabbitMq</vt:lpstr>
      <vt:lpstr>Redis кэширование данных</vt:lpstr>
      <vt:lpstr>Idempotency-Key</vt:lpstr>
      <vt:lpstr>Jaeger</vt:lpstr>
      <vt:lpstr>Promethus</vt:lpstr>
      <vt:lpstr>Презентация PowerPoint</vt:lpstr>
      <vt:lpstr>Grafana</vt:lpstr>
      <vt:lpstr>Логирование</vt:lpstr>
      <vt:lpstr>Выводы </vt:lpstr>
      <vt:lpstr>Презентация PowerPoint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RuslanGaB</dc:creator>
  <cp:lastModifiedBy>Габбазов Руслан</cp:lastModifiedBy>
  <cp:revision>32</cp:revision>
  <dcterms:modified xsi:type="dcterms:W3CDTF">2025-10-21T11:36:52Z</dcterms:modified>
</cp:coreProperties>
</file>